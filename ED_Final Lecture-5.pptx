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329" r:id="rId2"/>
    <p:sldId id="315" r:id="rId3"/>
    <p:sldId id="316" r:id="rId4"/>
    <p:sldId id="317" r:id="rId5"/>
    <p:sldId id="322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308" r:id="rId15"/>
    <p:sldId id="323" r:id="rId16"/>
    <p:sldId id="324" r:id="rId17"/>
    <p:sldId id="325" r:id="rId18"/>
    <p:sldId id="326" r:id="rId19"/>
    <p:sldId id="603" r:id="rId20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8BEDF4-9CF4-48DA-94DF-A67082CCF154}" v="2" dt="2021-11-14T08:33:01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7" autoAdjust="0"/>
    <p:restoredTop sz="94688"/>
  </p:normalViewPr>
  <p:slideViewPr>
    <p:cSldViewPr snapToGrid="0">
      <p:cViewPr varScale="1">
        <p:scale>
          <a:sx n="68" d="100"/>
          <a:sy n="68" d="100"/>
        </p:scale>
        <p:origin x="1566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. Kabiruzzaman" userId="6ded3dbc-3596-4a7a-93e7-ec1de6630a67" providerId="ADAL" clId="{458BEDF4-9CF4-48DA-94DF-A67082CCF154}"/>
    <pc:docChg chg="custSel modSld">
      <pc:chgData name="Dr. Md. Kabiruzzaman" userId="6ded3dbc-3596-4a7a-93e7-ec1de6630a67" providerId="ADAL" clId="{458BEDF4-9CF4-48DA-94DF-A67082CCF154}" dt="2021-11-15T02:01:13.579" v="10" actId="478"/>
      <pc:docMkLst>
        <pc:docMk/>
      </pc:docMkLst>
      <pc:sldChg chg="addSp delSp mod">
        <pc:chgData name="Dr. Md. Kabiruzzaman" userId="6ded3dbc-3596-4a7a-93e7-ec1de6630a67" providerId="ADAL" clId="{458BEDF4-9CF4-48DA-94DF-A67082CCF154}" dt="2021-11-14T08:12:22.911" v="3" actId="478"/>
        <pc:sldMkLst>
          <pc:docMk/>
          <pc:sldMk cId="1676441106" sldId="287"/>
        </pc:sldMkLst>
        <pc:inkChg chg="add del">
          <ac:chgData name="Dr. Md. Kabiruzzaman" userId="6ded3dbc-3596-4a7a-93e7-ec1de6630a67" providerId="ADAL" clId="{458BEDF4-9CF4-48DA-94DF-A67082CCF154}" dt="2021-11-14T08:12:22.911" v="3" actId="478"/>
          <ac:inkMkLst>
            <pc:docMk/>
            <pc:sldMk cId="1676441106" sldId="287"/>
            <ac:inkMk id="4" creationId="{45B8EB48-F7A6-4FEF-8814-E9F26B84A9E7}"/>
          </ac:inkMkLst>
        </pc:inkChg>
      </pc:sldChg>
      <pc:sldChg chg="addSp delSp mod">
        <pc:chgData name="Dr. Md. Kabiruzzaman" userId="6ded3dbc-3596-4a7a-93e7-ec1de6630a67" providerId="ADAL" clId="{458BEDF4-9CF4-48DA-94DF-A67082CCF154}" dt="2021-11-14T08:12:25.225" v="4" actId="478"/>
        <pc:sldMkLst>
          <pc:docMk/>
          <pc:sldMk cId="3513493442" sldId="288"/>
        </pc:sldMkLst>
        <pc:inkChg chg="add del">
          <ac:chgData name="Dr. Md. Kabiruzzaman" userId="6ded3dbc-3596-4a7a-93e7-ec1de6630a67" providerId="ADAL" clId="{458BEDF4-9CF4-48DA-94DF-A67082CCF154}" dt="2021-11-14T08:12:25.225" v="4" actId="478"/>
          <ac:inkMkLst>
            <pc:docMk/>
            <pc:sldMk cId="3513493442" sldId="288"/>
            <ac:inkMk id="4" creationId="{158381EE-ABCC-4272-8D97-F15E12248CD4}"/>
          </ac:inkMkLst>
        </pc:inkChg>
      </pc:sldChg>
      <pc:sldChg chg="addSp delSp mod">
        <pc:chgData name="Dr. Md. Kabiruzzaman" userId="6ded3dbc-3596-4a7a-93e7-ec1de6630a67" providerId="ADAL" clId="{458BEDF4-9CF4-48DA-94DF-A67082CCF154}" dt="2021-11-14T08:12:28.502" v="5" actId="478"/>
        <pc:sldMkLst>
          <pc:docMk/>
          <pc:sldMk cId="2549677447" sldId="290"/>
        </pc:sldMkLst>
        <pc:inkChg chg="add del">
          <ac:chgData name="Dr. Md. Kabiruzzaman" userId="6ded3dbc-3596-4a7a-93e7-ec1de6630a67" providerId="ADAL" clId="{458BEDF4-9CF4-48DA-94DF-A67082CCF154}" dt="2021-11-14T08:12:28.502" v="5" actId="478"/>
          <ac:inkMkLst>
            <pc:docMk/>
            <pc:sldMk cId="2549677447" sldId="290"/>
            <ac:inkMk id="4" creationId="{3FE2593E-B5FD-401C-802D-3886AF7400FF}"/>
          </ac:inkMkLst>
        </pc:inkChg>
      </pc:sldChg>
      <pc:sldChg chg="addSp delSp mod">
        <pc:chgData name="Dr. Md. Kabiruzzaman" userId="6ded3dbc-3596-4a7a-93e7-ec1de6630a67" providerId="ADAL" clId="{458BEDF4-9CF4-48DA-94DF-A67082CCF154}" dt="2021-11-14T08:12:33.446" v="6" actId="478"/>
        <pc:sldMkLst>
          <pc:docMk/>
          <pc:sldMk cId="447718031" sldId="294"/>
        </pc:sldMkLst>
        <pc:inkChg chg="add del">
          <ac:chgData name="Dr. Md. Kabiruzzaman" userId="6ded3dbc-3596-4a7a-93e7-ec1de6630a67" providerId="ADAL" clId="{458BEDF4-9CF4-48DA-94DF-A67082CCF154}" dt="2021-11-14T08:12:33.446" v="6" actId="478"/>
          <ac:inkMkLst>
            <pc:docMk/>
            <pc:sldMk cId="447718031" sldId="294"/>
            <ac:inkMk id="3" creationId="{28C2D9B7-5004-4451-BB24-F8A0EE4642F2}"/>
          </ac:inkMkLst>
        </pc:inkChg>
      </pc:sldChg>
      <pc:sldChg chg="addSp delSp mod">
        <pc:chgData name="Dr. Md. Kabiruzzaman" userId="6ded3dbc-3596-4a7a-93e7-ec1de6630a67" providerId="ADAL" clId="{458BEDF4-9CF4-48DA-94DF-A67082CCF154}" dt="2021-11-14T08:12:35.754" v="7" actId="478"/>
        <pc:sldMkLst>
          <pc:docMk/>
          <pc:sldMk cId="1985390472" sldId="308"/>
        </pc:sldMkLst>
        <pc:inkChg chg="add del">
          <ac:chgData name="Dr. Md. Kabiruzzaman" userId="6ded3dbc-3596-4a7a-93e7-ec1de6630a67" providerId="ADAL" clId="{458BEDF4-9CF4-48DA-94DF-A67082CCF154}" dt="2021-11-14T08:12:35.754" v="7" actId="478"/>
          <ac:inkMkLst>
            <pc:docMk/>
            <pc:sldMk cId="1985390472" sldId="308"/>
            <ac:inkMk id="3" creationId="{E519A882-D678-415F-8BC1-4CD67C277F24}"/>
          </ac:inkMkLst>
        </pc:inkChg>
      </pc:sldChg>
      <pc:sldChg chg="addSp delSp mod">
        <pc:chgData name="Dr. Md. Kabiruzzaman" userId="6ded3dbc-3596-4a7a-93e7-ec1de6630a67" providerId="ADAL" clId="{458BEDF4-9CF4-48DA-94DF-A67082CCF154}" dt="2021-11-14T08:12:10.559" v="1" actId="478"/>
        <pc:sldMkLst>
          <pc:docMk/>
          <pc:sldMk cId="2903145252" sldId="315"/>
        </pc:sldMkLst>
        <pc:inkChg chg="add del">
          <ac:chgData name="Dr. Md. Kabiruzzaman" userId="6ded3dbc-3596-4a7a-93e7-ec1de6630a67" providerId="ADAL" clId="{458BEDF4-9CF4-48DA-94DF-A67082CCF154}" dt="2021-11-14T08:12:10.559" v="1" actId="478"/>
          <ac:inkMkLst>
            <pc:docMk/>
            <pc:sldMk cId="2903145252" sldId="315"/>
            <ac:inkMk id="4" creationId="{4D4B4B92-AB07-47DC-BAE0-202E376E29C4}"/>
          </ac:inkMkLst>
        </pc:inkChg>
      </pc:sldChg>
      <pc:sldChg chg="addSp delSp mod">
        <pc:chgData name="Dr. Md. Kabiruzzaman" userId="6ded3dbc-3596-4a7a-93e7-ec1de6630a67" providerId="ADAL" clId="{458BEDF4-9CF4-48DA-94DF-A67082CCF154}" dt="2021-11-15T02:01:13.579" v="10" actId="478"/>
        <pc:sldMkLst>
          <pc:docMk/>
          <pc:sldMk cId="3716941440" sldId="316"/>
        </pc:sldMkLst>
        <pc:inkChg chg="add del">
          <ac:chgData name="Dr. Md. Kabiruzzaman" userId="6ded3dbc-3596-4a7a-93e7-ec1de6630a67" providerId="ADAL" clId="{458BEDF4-9CF4-48DA-94DF-A67082CCF154}" dt="2021-11-14T08:12:16.816" v="2" actId="478"/>
          <ac:inkMkLst>
            <pc:docMk/>
            <pc:sldMk cId="3716941440" sldId="316"/>
            <ac:inkMk id="4" creationId="{BA9093AF-9FAF-4401-9FA8-FB758C379F88}"/>
          </ac:inkMkLst>
        </pc:inkChg>
        <pc:inkChg chg="add del">
          <ac:chgData name="Dr. Md. Kabiruzzaman" userId="6ded3dbc-3596-4a7a-93e7-ec1de6630a67" providerId="ADAL" clId="{458BEDF4-9CF4-48DA-94DF-A67082CCF154}" dt="2021-11-15T02:01:13.579" v="10" actId="478"/>
          <ac:inkMkLst>
            <pc:docMk/>
            <pc:sldMk cId="3716941440" sldId="316"/>
            <ac:inkMk id="5" creationId="{DF839804-1B34-4415-8615-4E495EC9B453}"/>
          </ac:inkMkLst>
        </pc:inkChg>
      </pc:sldChg>
      <pc:sldChg chg="addSp">
        <pc:chgData name="Dr. Md. Kabiruzzaman" userId="6ded3dbc-3596-4a7a-93e7-ec1de6630a67" providerId="ADAL" clId="{458BEDF4-9CF4-48DA-94DF-A67082CCF154}" dt="2021-11-14T07:07:44.069" v="0"/>
        <pc:sldMkLst>
          <pc:docMk/>
          <pc:sldMk cId="1638370188" sldId="317"/>
        </pc:sldMkLst>
        <pc:inkChg chg="add">
          <ac:chgData name="Dr. Md. Kabiruzzaman" userId="6ded3dbc-3596-4a7a-93e7-ec1de6630a67" providerId="ADAL" clId="{458BEDF4-9CF4-48DA-94DF-A67082CCF154}" dt="2021-11-14T07:07:44.069" v="0"/>
          <ac:inkMkLst>
            <pc:docMk/>
            <pc:sldMk cId="1638370188" sldId="317"/>
            <ac:inkMk id="3" creationId="{03E15B8B-C201-42E3-8F5E-04BC35A058C9}"/>
          </ac:inkMkLst>
        </pc:inkChg>
      </pc:sldChg>
      <pc:sldChg chg="addSp delSp mod">
        <pc:chgData name="Dr. Md. Kabiruzzaman" userId="6ded3dbc-3596-4a7a-93e7-ec1de6630a67" providerId="ADAL" clId="{458BEDF4-9CF4-48DA-94DF-A67082CCF154}" dt="2021-11-14T08:12:38.264" v="8" actId="478"/>
        <pc:sldMkLst>
          <pc:docMk/>
          <pc:sldMk cId="3843789248" sldId="323"/>
        </pc:sldMkLst>
        <pc:inkChg chg="add del">
          <ac:chgData name="Dr. Md. Kabiruzzaman" userId="6ded3dbc-3596-4a7a-93e7-ec1de6630a67" providerId="ADAL" clId="{458BEDF4-9CF4-48DA-94DF-A67082CCF154}" dt="2021-11-14T08:12:38.264" v="8" actId="478"/>
          <ac:inkMkLst>
            <pc:docMk/>
            <pc:sldMk cId="3843789248" sldId="323"/>
            <ac:inkMk id="4" creationId="{6CE0F452-AB3E-4D9F-B4B8-EF4AA4353DA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11-14T06:50:10.1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11907 5259 0,'0'24'172,"0"1"-156,0 0 0,0 0-16,0 0 31,0 24 16,24-24-16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C889D-9EBD-4557-A854-C4A5BFA0BA5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B59BE-046B-4B0B-8C7C-7FB65C8A2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11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FEF3F8-31F7-4A56-BA2D-DC10142AB8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34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C9E1F397-0477-1845-A6C4-537F008B35CB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48821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C6344EBC-D1EF-9647-9F34-F79B9C8ECBCC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6395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 dirty="0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CD70A58-8119-F340-9EDF-E34280926FEE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58670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2EE0F0A1-704E-A144-AFFF-A64C7B4087A6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655158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117F5A17-D7E5-FB4E-9D5A-77728B998F73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62251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FD984FDF-98DD-A742-9007-7652A0DBD4F3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151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E2F41CD-052C-7D41-94BC-67C93EB9DD7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12593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338E0E7-18D3-3643-91C1-62548AD20C6E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44336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 dirty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172A421-21EE-C148-BFB5-7A8D7079B5B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8923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52AD1B9-CE3D-544D-A1A2-7113DF4C6195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4628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EB26242-193F-8D41-B25F-373B48D840AB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00107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46CE468F-BECE-CE4E-9421-907231D3E673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11/15/2021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 dirty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 dirty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17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E3B238A-95CF-D247-AF6F-D017CD39E0E4}"/>
              </a:ext>
            </a:extLst>
          </p:cNvPr>
          <p:cNvSpPr txBox="1">
            <a:spLocks/>
          </p:cNvSpPr>
          <p:nvPr/>
        </p:nvSpPr>
        <p:spPr>
          <a:xfrm>
            <a:off x="1957568" y="599304"/>
            <a:ext cx="5228860" cy="878351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Devices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3D49437-97F2-1C46-BCFF-53D28976941C}"/>
              </a:ext>
            </a:extLst>
          </p:cNvPr>
          <p:cNvSpPr txBox="1">
            <a:spLocks/>
          </p:cNvSpPr>
          <p:nvPr/>
        </p:nvSpPr>
        <p:spPr>
          <a:xfrm>
            <a:off x="2497103" y="5313601"/>
            <a:ext cx="4149793" cy="696988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kumimoji="0" lang="en-US" altLang="en-US" sz="1100" u="sng" dirty="0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Reference book</a:t>
            </a:r>
            <a:r>
              <a:rPr kumimoji="0" lang="en-US" altLang="en-US" sz="1100" dirty="0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:</a:t>
            </a:r>
            <a:endParaRPr lang="en-US" sz="1100" b="1" u="sng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kumimoji="0" lang="en-US" altLang="en-US" sz="1400" b="1" dirty="0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Electronic Devices and Circuit Theory (Chapter-6)</a:t>
            </a:r>
            <a:r>
              <a:rPr kumimoji="0" lang="en-US" altLang="en-US" sz="1400" dirty="0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Robert L.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Boylestad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 and L.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Nashelsky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 , (11</a:t>
            </a:r>
            <a:r>
              <a:rPr lang="en-US" sz="1100" baseline="30000" dirty="0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th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TimesNewRomanPS"/>
              </a:rPr>
              <a:t> Edition)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5E2B1D5-6796-4242-8D7E-42837C88C7C0}"/>
              </a:ext>
            </a:extLst>
          </p:cNvPr>
          <p:cNvSpPr txBox="1">
            <a:spLocks/>
          </p:cNvSpPr>
          <p:nvPr/>
        </p:nvSpPr>
        <p:spPr>
          <a:xfrm>
            <a:off x="3264972" y="1916831"/>
            <a:ext cx="2614052" cy="878351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Term</a:t>
            </a:r>
            <a:b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- 05</a:t>
            </a:r>
          </a:p>
        </p:txBody>
      </p:sp>
    </p:spTree>
    <p:extLst>
      <p:ext uri="{BB962C8B-B14F-4D97-AF65-F5344CB8AC3E}">
        <p14:creationId xmlns:p14="http://schemas.microsoft.com/office/powerpoint/2010/main" val="146481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863" y="578223"/>
            <a:ext cx="7429499" cy="61087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TRANSFER CURVE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84" y="1386544"/>
            <a:ext cx="3758037" cy="4084911"/>
          </a:xfrm>
        </p:spPr>
        <p:txBody>
          <a:bodyPr>
            <a:noAutofit/>
          </a:bodyPr>
          <a:lstStyle/>
          <a:p>
            <a:pPr algn="just"/>
            <a:r>
              <a:rPr lang="en-US" sz="1500" dirty="0">
                <a:latin typeface="Arial Narrow" panose="020B0606020202030204" pitchFamily="34" charset="0"/>
              </a:rPr>
              <a:t>To determine I</a:t>
            </a:r>
            <a:r>
              <a:rPr lang="en-US" sz="1500" baseline="-25000" dirty="0">
                <a:latin typeface="Arial Narrow" panose="020B0606020202030204" pitchFamily="34" charset="0"/>
              </a:rPr>
              <a:t>D</a:t>
            </a:r>
            <a:r>
              <a:rPr lang="en-US" sz="1500" dirty="0">
                <a:latin typeface="Arial Narrow" panose="020B0606020202030204" pitchFamily="34" charset="0"/>
              </a:rPr>
              <a:t> given V</a:t>
            </a:r>
            <a:r>
              <a:rPr lang="en-US" sz="1500" baseline="-25000" dirty="0">
                <a:latin typeface="Arial Narrow" panose="020B0606020202030204" pitchFamily="34" charset="0"/>
              </a:rPr>
              <a:t>GS</a:t>
            </a:r>
            <a:r>
              <a:rPr lang="en-US" sz="1500" dirty="0">
                <a:latin typeface="Arial Narrow" panose="020B0606020202030204" pitchFamily="34" charset="0"/>
              </a:rPr>
              <a:t>:					</a:t>
            </a:r>
          </a:p>
          <a:p>
            <a:pPr algn="just"/>
            <a:r>
              <a:rPr lang="en-US" sz="1500" dirty="0">
                <a:latin typeface="Arial Narrow" panose="020B0606020202030204" pitchFamily="34" charset="0"/>
              </a:rPr>
              <a:t>where V</a:t>
            </a:r>
            <a:r>
              <a:rPr lang="en-US" sz="1500" baseline="-25000" dirty="0">
                <a:latin typeface="Arial Narrow" panose="020B0606020202030204" pitchFamily="34" charset="0"/>
              </a:rPr>
              <a:t>T</a:t>
            </a:r>
            <a:r>
              <a:rPr lang="en-US" sz="1500" dirty="0">
                <a:latin typeface="Arial Narrow" panose="020B0606020202030204" pitchFamily="34" charset="0"/>
              </a:rPr>
              <a:t> = threshold voltage or voltage at which the MOSFET turns on.</a:t>
            </a:r>
          </a:p>
          <a:p>
            <a:pPr algn="just"/>
            <a:endParaRPr lang="en-US" sz="1500" dirty="0">
              <a:latin typeface="Arial Narrow" panose="020B0606020202030204" pitchFamily="34" charset="0"/>
            </a:endParaRPr>
          </a:p>
          <a:p>
            <a:pPr algn="just"/>
            <a:r>
              <a:rPr lang="en-US" sz="1500" dirty="0">
                <a:latin typeface="Arial Narrow" panose="020B0606020202030204" pitchFamily="34" charset="0"/>
              </a:rPr>
              <a:t>k = constant found in the specification sheet</a:t>
            </a:r>
          </a:p>
          <a:p>
            <a:pPr algn="just"/>
            <a:r>
              <a:rPr lang="en-US" sz="1500" dirty="0">
                <a:latin typeface="Arial Narrow" panose="020B0606020202030204" pitchFamily="34" charset="0"/>
              </a:rPr>
              <a:t>k can also be determined by using values at a specific point and the formula:</a:t>
            </a:r>
          </a:p>
          <a:p>
            <a:pPr marL="0" indent="0" algn="just">
              <a:buNone/>
            </a:pPr>
            <a:r>
              <a:rPr lang="en-US" sz="1500" dirty="0">
                <a:latin typeface="Arial Narrow" panose="020B0606020202030204" pitchFamily="34" charset="0"/>
              </a:rPr>
              <a:t>                                                       			</a:t>
            </a:r>
          </a:p>
          <a:p>
            <a:pPr algn="just"/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V</a:t>
            </a:r>
            <a:r>
              <a:rPr lang="en-US" baseline="-25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DSsat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 can also be calculated:</a:t>
            </a: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2976043" y="1583992"/>
          <a:ext cx="1307570" cy="298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241300" progId="Equation.3">
                  <p:embed/>
                </p:oleObj>
              </mc:Choice>
              <mc:Fallback>
                <p:oleObj name="Equation" r:id="rId2" imgW="1054100" imgH="241300" progId="Equation.3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043" y="1583992"/>
                        <a:ext cx="1307570" cy="298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768257"/>
              </p:ext>
            </p:extLst>
          </p:nvPr>
        </p:nvGraphicFramePr>
        <p:xfrm>
          <a:off x="1651743" y="3784979"/>
          <a:ext cx="1528952" cy="575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431800" progId="Equation.3">
                  <p:embed/>
                </p:oleObj>
              </mc:Choice>
              <mc:Fallback>
                <p:oleObj name="Equation" r:id="rId4" imgW="1143000" imgH="431800" progId="Equation.3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743" y="3784979"/>
                        <a:ext cx="1528952" cy="575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272540"/>
              </p:ext>
            </p:extLst>
          </p:nvPr>
        </p:nvGraphicFramePr>
        <p:xfrm>
          <a:off x="1926395" y="4941777"/>
          <a:ext cx="1137723" cy="284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28600" progId="Equation.DSMT4">
                  <p:embed/>
                </p:oleObj>
              </mc:Choice>
              <mc:Fallback>
                <p:oleObj name="Equation" r:id="rId6" imgW="914400" imgH="228600" progId="Equation.DSMT4">
                  <p:embed/>
                  <p:pic>
                    <p:nvPicPr>
                      <p:cNvPr id="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395" y="4941777"/>
                        <a:ext cx="1137723" cy="284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6219" y="1567265"/>
            <a:ext cx="4065905" cy="343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4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372" y="758335"/>
            <a:ext cx="7525976" cy="45387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P -CHANNEL ENHANCEMENT-TYPE MOSFETS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372" y="1212206"/>
            <a:ext cx="7615451" cy="4084911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The p-channel Enhancement-type MOSFET is similar to the  n-channel except that the voltage polarities and current directions are reversed.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9521" y="2245486"/>
            <a:ext cx="7553187" cy="350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94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597" y="973121"/>
            <a:ext cx="7429499" cy="61087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 SYMBOLS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4722" y="1083343"/>
            <a:ext cx="3357398" cy="46913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E15B8B-C201-42E3-8F5E-04BC35A058C9}"/>
                  </a:ext>
                </a:extLst>
              </p14:cNvPr>
              <p14:cNvContentPartPr/>
              <p14:nvPr/>
            </p14:nvContentPartPr>
            <p14:xfrm>
              <a:off x="4286520" y="1893240"/>
              <a:ext cx="9000" cy="71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E15B8B-C201-42E3-8F5E-04BC35A058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77160" y="1883880"/>
                <a:ext cx="27720" cy="9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8370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919" y="437262"/>
            <a:ext cx="7884702" cy="485523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342900"/>
            <a:r>
              <a:rPr lang="en-US" sz="2700" b="1" dirty="0">
                <a:solidFill>
                  <a:srgbClr val="00B050"/>
                </a:solidFill>
              </a:rPr>
              <a:t> DEPLETION-TYPE MOSFET CONSTRUCTION</a:t>
            </a:r>
            <a:br>
              <a:rPr lang="en-US" sz="2700" b="1" dirty="0">
                <a:solidFill>
                  <a:srgbClr val="00B050"/>
                </a:solidFill>
              </a:rPr>
            </a:br>
            <a:endParaRPr lang="en-US" sz="27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504" y="1249456"/>
            <a:ext cx="4412905" cy="4084911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The Drain (D) and Source (S) connect to the to n-doped regions. 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These N-doped regions are connected via an n-channel. This n-channel is connected to the Gate (G) via a thin insulating layer of SiO2. 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The n-doped material lies on a p-doped substrate that may have an additional terminal connection called SS.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15214" y="1249456"/>
            <a:ext cx="3706169" cy="39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15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128" y="549374"/>
            <a:ext cx="7429499" cy="401117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342900"/>
            <a:r>
              <a:rPr lang="en-US" sz="2700" b="1" dirty="0">
                <a:solidFill>
                  <a:srgbClr val="00B050"/>
                </a:solidFill>
              </a:rPr>
              <a:t> BASIC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28" y="1227754"/>
            <a:ext cx="3639074" cy="4084911"/>
          </a:xfrm>
        </p:spPr>
        <p:txBody>
          <a:bodyPr>
            <a:noAutofit/>
          </a:bodyPr>
          <a:lstStyle/>
          <a:p>
            <a:pPr algn="just"/>
            <a:r>
              <a:rPr lang="en-US" sz="1650" dirty="0">
                <a:latin typeface="Arial Narrow" panose="020B0606020202030204" pitchFamily="34" charset="0"/>
              </a:rPr>
              <a:t>In Fig. 6.25 the gate-to-source voltage is set to 0 V by the direct connection from one terminal to the other, and a voltage V</a:t>
            </a:r>
            <a:r>
              <a:rPr lang="en-US" sz="1650" baseline="-25000" dirty="0">
                <a:latin typeface="Arial Narrow" panose="020B0606020202030204" pitchFamily="34" charset="0"/>
              </a:rPr>
              <a:t>DD</a:t>
            </a:r>
            <a:r>
              <a:rPr lang="en-US" sz="1650" dirty="0">
                <a:latin typeface="Arial Narrow" panose="020B0606020202030204" pitchFamily="34" charset="0"/>
              </a:rPr>
              <a:t> is applied across the drain-to-source terminals. </a:t>
            </a:r>
          </a:p>
          <a:p>
            <a:pPr algn="just"/>
            <a:endParaRPr lang="en-US" sz="1650" dirty="0">
              <a:latin typeface="Arial Narrow" panose="020B0606020202030204" pitchFamily="34" charset="0"/>
            </a:endParaRPr>
          </a:p>
          <a:p>
            <a:pPr algn="just"/>
            <a:r>
              <a:rPr lang="en-US" sz="1650" dirty="0">
                <a:latin typeface="Arial Narrow" panose="020B0606020202030204" pitchFamily="34" charset="0"/>
              </a:rPr>
              <a:t>The result is an attraction of the free electrons of the n-channel for the positive voltage at the drain. </a:t>
            </a:r>
          </a:p>
          <a:p>
            <a:pPr algn="just"/>
            <a:endParaRPr lang="en-US" sz="1650" dirty="0">
              <a:latin typeface="Arial Narrow" panose="020B0606020202030204" pitchFamily="34" charset="0"/>
            </a:endParaRPr>
          </a:p>
          <a:p>
            <a:pPr algn="just"/>
            <a:r>
              <a:rPr lang="en-US" sz="1650" dirty="0">
                <a:latin typeface="Arial Narrow" panose="020B0606020202030204" pitchFamily="34" charset="0"/>
              </a:rPr>
              <a:t>The result is a current similar to that flowing in the channel of the JFET. In fact, the resulting current with V</a:t>
            </a:r>
            <a:r>
              <a:rPr lang="en-US" sz="1650" baseline="-25000" dirty="0">
                <a:latin typeface="Arial Narrow" panose="020B0606020202030204" pitchFamily="34" charset="0"/>
              </a:rPr>
              <a:t>GS</a:t>
            </a:r>
            <a:r>
              <a:rPr lang="en-US" sz="1650" dirty="0">
                <a:latin typeface="Arial Narrow" panose="020B0606020202030204" pitchFamily="34" charset="0"/>
              </a:rPr>
              <a:t> = 0 V continues to be labeled I</a:t>
            </a:r>
            <a:r>
              <a:rPr lang="en-US" sz="1650" baseline="-25000" dirty="0">
                <a:latin typeface="Arial Narrow" panose="020B0606020202030204" pitchFamily="34" charset="0"/>
              </a:rPr>
              <a:t>DSS.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81375" y="1364349"/>
            <a:ext cx="4513421" cy="412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4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187" y="769398"/>
            <a:ext cx="7429499" cy="422219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342900"/>
            <a:r>
              <a:rPr lang="en-US" sz="2700" b="1" dirty="0">
                <a:solidFill>
                  <a:srgbClr val="00B050"/>
                </a:solidFill>
              </a:rPr>
              <a:t> BASIC OPERATION</a:t>
            </a:r>
            <a:br>
              <a:rPr lang="en-US" sz="2700" b="1" dirty="0">
                <a:solidFill>
                  <a:srgbClr val="00B050"/>
                </a:solidFill>
              </a:rPr>
            </a:br>
            <a:endParaRPr lang="en-US" sz="27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050" y="1327515"/>
            <a:ext cx="7615451" cy="4084911"/>
          </a:xfrm>
        </p:spPr>
        <p:txBody>
          <a:bodyPr>
            <a:noAutofit/>
          </a:bodyPr>
          <a:lstStyle/>
          <a:p>
            <a:pPr algn="just"/>
            <a:r>
              <a:rPr lang="en-US" altLang="en-US" dirty="0">
                <a:latin typeface="Arial Narrow" panose="020B0606020202030204" pitchFamily="34" charset="0"/>
                <a:cs typeface="Times" panose="02020603050405020304" pitchFamily="18" charset="0"/>
              </a:rPr>
              <a:t>A Depletion MOSFET can operate in two modes: Depletion or Enhancement mode.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68734" y="1946938"/>
            <a:ext cx="6206532" cy="374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49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826" y="571677"/>
            <a:ext cx="7429499" cy="465630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342900"/>
            <a:r>
              <a:rPr lang="en-US" sz="2700" b="1" dirty="0">
                <a:solidFill>
                  <a:srgbClr val="00B050"/>
                </a:solidFill>
              </a:rPr>
              <a:t> BASIC OPERATION CONTD.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689" y="1182549"/>
            <a:ext cx="5152818" cy="4084911"/>
          </a:xfrm>
        </p:spPr>
        <p:txBody>
          <a:bodyPr>
            <a:noAutofit/>
          </a:bodyPr>
          <a:lstStyle/>
          <a:p>
            <a:pPr algn="just"/>
            <a:r>
              <a:rPr lang="en-US" sz="1500" dirty="0">
                <a:latin typeface="Arial Narrow" panose="020B0606020202030204" pitchFamily="34" charset="0"/>
              </a:rPr>
              <a:t>In this figure V</a:t>
            </a:r>
            <a:r>
              <a:rPr lang="en-US" sz="1500" baseline="-25000" dirty="0">
                <a:latin typeface="Arial Narrow" panose="020B0606020202030204" pitchFamily="34" charset="0"/>
              </a:rPr>
              <a:t>GS</a:t>
            </a:r>
            <a:r>
              <a:rPr lang="en-US" sz="1500" dirty="0">
                <a:latin typeface="Arial Narrow" panose="020B0606020202030204" pitchFamily="34" charset="0"/>
              </a:rPr>
              <a:t> has been set at a negative voltage such as 1 V. The negative potential at the gate will tend to pressure electrons toward the p-type substrate (like charges repel) and attract holes from the p-type substrate (opposite charges attract).</a:t>
            </a:r>
          </a:p>
          <a:p>
            <a:pPr marL="0" indent="0" algn="just">
              <a:buNone/>
            </a:pPr>
            <a:endParaRPr lang="en-US" sz="1500" dirty="0">
              <a:latin typeface="Arial Narrow" panose="020B0606020202030204" pitchFamily="34" charset="0"/>
            </a:endParaRPr>
          </a:p>
          <a:p>
            <a:pPr algn="just"/>
            <a:r>
              <a:rPr lang="en-US" sz="1500" dirty="0">
                <a:latin typeface="Arial Narrow" panose="020B0606020202030204" pitchFamily="34" charset="0"/>
              </a:rPr>
              <a:t>Depending on the magnitude of the negative bias established by V</a:t>
            </a:r>
            <a:r>
              <a:rPr lang="en-US" sz="1500" baseline="-25000" dirty="0">
                <a:latin typeface="Arial Narrow" panose="020B0606020202030204" pitchFamily="34" charset="0"/>
              </a:rPr>
              <a:t>GS</a:t>
            </a:r>
            <a:r>
              <a:rPr lang="en-US" sz="1500" dirty="0">
                <a:latin typeface="Arial Narrow" panose="020B0606020202030204" pitchFamily="34" charset="0"/>
              </a:rPr>
              <a:t>, a level of recombination between electrons and holes will occur that will reduce the number of free electrons in the n-channel available for conduction. The more negative the bias, the higher the rate of recombination. </a:t>
            </a:r>
          </a:p>
          <a:p>
            <a:pPr algn="just"/>
            <a:endParaRPr lang="en-US" sz="1500" dirty="0">
              <a:latin typeface="Arial Narrow" panose="020B0606020202030204" pitchFamily="34" charset="0"/>
            </a:endParaRPr>
          </a:p>
          <a:p>
            <a:pPr algn="just"/>
            <a:r>
              <a:rPr lang="en-US" sz="1500" dirty="0">
                <a:latin typeface="Arial Narrow" panose="020B0606020202030204" pitchFamily="34" charset="0"/>
              </a:rPr>
              <a:t>The resulting level of drain current is therefore reduced with increasing negative bias for V</a:t>
            </a:r>
            <a:r>
              <a:rPr lang="en-US" sz="1500" baseline="-25000" dirty="0">
                <a:latin typeface="Arial Narrow" panose="020B0606020202030204" pitchFamily="34" charset="0"/>
              </a:rPr>
              <a:t>GS</a:t>
            </a:r>
            <a:r>
              <a:rPr lang="en-US" sz="1500" dirty="0">
                <a:latin typeface="Arial Narrow" panose="020B0606020202030204" pitchFamily="34" charset="0"/>
              </a:rPr>
              <a:t> for V</a:t>
            </a:r>
            <a:r>
              <a:rPr lang="en-US" sz="1500" baseline="-25000" dirty="0">
                <a:latin typeface="Arial Narrow" panose="020B0606020202030204" pitchFamily="34" charset="0"/>
              </a:rPr>
              <a:t>GS</a:t>
            </a:r>
            <a:r>
              <a:rPr lang="en-US" sz="1500" dirty="0">
                <a:latin typeface="Arial Narrow" panose="020B0606020202030204" pitchFamily="34" charset="0"/>
              </a:rPr>
              <a:t> =1 V, 2 V, and so on, to the pinch-off level of 6 V. The resulting levels of drain current and the plotting of the transfer curve proceeds exactly as described for the JFET.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60169" y="1236184"/>
            <a:ext cx="3059723" cy="39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3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356" y="605131"/>
            <a:ext cx="7723163" cy="369465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342900"/>
            <a:r>
              <a:rPr lang="en-US" sz="2400" b="1" dirty="0">
                <a:solidFill>
                  <a:srgbClr val="00B050"/>
                </a:solidFill>
              </a:rPr>
              <a:t> DEPLETION-TYPE MOSFET IN </a:t>
            </a:r>
            <a:r>
              <a:rPr lang="en-US" sz="2400" b="1" i="1" dirty="0">
                <a:solidFill>
                  <a:srgbClr val="FF0000"/>
                </a:solidFill>
              </a:rPr>
              <a:t>DEPLETION MODE</a:t>
            </a:r>
            <a:br>
              <a:rPr lang="en-US" sz="2400" b="1" dirty="0">
                <a:solidFill>
                  <a:srgbClr val="00B050"/>
                </a:solidFill>
              </a:rPr>
            </a:b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899" y="1216003"/>
            <a:ext cx="3055343" cy="4084911"/>
          </a:xfrm>
        </p:spPr>
        <p:txBody>
          <a:bodyPr>
            <a:noAutofit/>
          </a:bodyPr>
          <a:lstStyle/>
          <a:p>
            <a:pPr algn="just"/>
            <a:r>
              <a:rPr lang="en-US" b="1" i="1" u="sng" dirty="0">
                <a:latin typeface="Arial Narrow" panose="020B0606020202030204" pitchFamily="34" charset="0"/>
              </a:rPr>
              <a:t>Depletion mode: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The characteristics are similar to the JFET.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When V</a:t>
            </a:r>
            <a:r>
              <a:rPr lang="en-US" baseline="-25000" dirty="0">
                <a:latin typeface="Arial Narrow" panose="020B0606020202030204" pitchFamily="34" charset="0"/>
              </a:rPr>
              <a:t>GS</a:t>
            </a:r>
            <a:r>
              <a:rPr lang="en-US" dirty="0">
                <a:latin typeface="Arial Narrow" panose="020B0606020202030204" pitchFamily="34" charset="0"/>
              </a:rPr>
              <a:t> = 0V, I</a:t>
            </a:r>
            <a:r>
              <a:rPr lang="en-US" baseline="-25000" dirty="0">
                <a:latin typeface="Arial Narrow" panose="020B0606020202030204" pitchFamily="34" charset="0"/>
              </a:rPr>
              <a:t>D</a:t>
            </a:r>
            <a:r>
              <a:rPr lang="en-US" dirty="0">
                <a:latin typeface="Arial Narrow" panose="020B0606020202030204" pitchFamily="34" charset="0"/>
              </a:rPr>
              <a:t> = I</a:t>
            </a:r>
            <a:r>
              <a:rPr lang="en-US" baseline="-25000" dirty="0">
                <a:latin typeface="Arial Narrow" panose="020B0606020202030204" pitchFamily="34" charset="0"/>
              </a:rPr>
              <a:t>DSS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When V</a:t>
            </a:r>
            <a:r>
              <a:rPr lang="en-US" baseline="-25000" dirty="0">
                <a:latin typeface="Arial Narrow" panose="020B0606020202030204" pitchFamily="34" charset="0"/>
              </a:rPr>
              <a:t>GS</a:t>
            </a:r>
            <a:r>
              <a:rPr lang="en-US" dirty="0">
                <a:latin typeface="Arial Narrow" panose="020B0606020202030204" pitchFamily="34" charset="0"/>
              </a:rPr>
              <a:t> &lt; 0V, I</a:t>
            </a:r>
            <a:r>
              <a:rPr lang="en-US" baseline="-25000" dirty="0">
                <a:latin typeface="Arial Narrow" panose="020B0606020202030204" pitchFamily="34" charset="0"/>
              </a:rPr>
              <a:t>D</a:t>
            </a:r>
            <a:r>
              <a:rPr lang="en-US" dirty="0">
                <a:latin typeface="Arial Narrow" panose="020B0606020202030204" pitchFamily="34" charset="0"/>
              </a:rPr>
              <a:t> &lt; I</a:t>
            </a:r>
            <a:r>
              <a:rPr lang="en-US" baseline="-25000" dirty="0">
                <a:latin typeface="Arial Narrow" panose="020B0606020202030204" pitchFamily="34" charset="0"/>
              </a:rPr>
              <a:t>DSS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The formula used to plot the Transfer Curve still applies: 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284318"/>
              </p:ext>
            </p:extLst>
          </p:nvPr>
        </p:nvGraphicFramePr>
        <p:xfrm>
          <a:off x="904855" y="4357938"/>
          <a:ext cx="1993429" cy="723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032" imgH="393529" progId="Equation.3">
                  <p:embed/>
                </p:oleObj>
              </mc:Choice>
              <mc:Fallback>
                <p:oleObj name="Equation" r:id="rId2" imgW="1079032" imgH="393529" progId="Equation.3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55" y="4357938"/>
                        <a:ext cx="1993429" cy="723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16220" y="1825776"/>
            <a:ext cx="4899023" cy="295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7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246" y="304048"/>
            <a:ext cx="7357163" cy="422219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342900"/>
            <a:r>
              <a:rPr lang="en-US" sz="2700" b="1" dirty="0">
                <a:solidFill>
                  <a:srgbClr val="00B050"/>
                </a:solidFill>
              </a:rPr>
              <a:t> ENHANCEMENT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274" y="1015537"/>
            <a:ext cx="7615451" cy="4305848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For positive values of V</a:t>
            </a:r>
            <a:r>
              <a:rPr lang="en-US" baseline="-25000" dirty="0">
                <a:latin typeface="Arial Narrow" panose="020B0606020202030204" pitchFamily="34" charset="0"/>
              </a:rPr>
              <a:t>GS</a:t>
            </a:r>
            <a:r>
              <a:rPr lang="en-US" dirty="0">
                <a:latin typeface="Arial Narrow" panose="020B0606020202030204" pitchFamily="34" charset="0"/>
              </a:rPr>
              <a:t>, the positive gate will draw additional electrons (free carriers) from the p-type substrate due to the reverse leakage current and establish new carriers through the collisions resulting between accelerating particles.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 As the gate-to-source voltage continues to increase in the positive direction, the drain current will increase at a rapid rate.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The application of a positive gate-to-source voltage has “enhanced” the level of free carriers in the channel compared to that encountered with V</a:t>
            </a:r>
            <a:r>
              <a:rPr lang="en-US" baseline="-25000" dirty="0">
                <a:latin typeface="Arial Narrow" panose="020B0606020202030204" pitchFamily="34" charset="0"/>
              </a:rPr>
              <a:t>GS</a:t>
            </a:r>
            <a:r>
              <a:rPr lang="en-US" dirty="0">
                <a:latin typeface="Arial Narrow" panose="020B0606020202030204" pitchFamily="34" charset="0"/>
              </a:rPr>
              <a:t> =0 V. For this reason the region of positive gate voltages on the drain or transfer characteristics is often referred to as the enhancement region,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The region between cutoff and the saturation level of I</a:t>
            </a:r>
            <a:r>
              <a:rPr lang="en-US" baseline="-25000" dirty="0">
                <a:latin typeface="Arial Narrow" panose="020B0606020202030204" pitchFamily="34" charset="0"/>
              </a:rPr>
              <a:t>DSS</a:t>
            </a:r>
            <a:r>
              <a:rPr lang="en-US" dirty="0">
                <a:latin typeface="Arial Narrow" panose="020B0606020202030204" pitchFamily="34" charset="0"/>
              </a:rPr>
              <a:t> referred to as the depletion region.</a:t>
            </a:r>
          </a:p>
        </p:txBody>
      </p:sp>
    </p:spTree>
    <p:extLst>
      <p:ext uri="{BB962C8B-B14F-4D97-AF65-F5344CB8AC3E}">
        <p14:creationId xmlns:p14="http://schemas.microsoft.com/office/powerpoint/2010/main" val="310555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456" y="697759"/>
            <a:ext cx="7429499" cy="443321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fr-FR" sz="2400" b="1" dirty="0">
                <a:solidFill>
                  <a:srgbClr val="00B050"/>
                </a:solidFill>
              </a:rPr>
              <a:t>DEPLETION-TYPE MOSFET IN </a:t>
            </a:r>
            <a:r>
              <a:rPr lang="fr-FR" sz="2400" b="1" i="1" u="sng" dirty="0">
                <a:solidFill>
                  <a:srgbClr val="FF0000"/>
                </a:solidFill>
              </a:rPr>
              <a:t>ENHANCEMENT MODE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738" y="1873925"/>
            <a:ext cx="3313517" cy="4084911"/>
          </a:xfrm>
        </p:spPr>
        <p:txBody>
          <a:bodyPr>
            <a:noAutofit/>
          </a:bodyPr>
          <a:lstStyle/>
          <a:p>
            <a:pPr algn="just"/>
            <a:r>
              <a:rPr lang="en-US" b="1" i="1" u="sng" dirty="0">
                <a:latin typeface="Arial Narrow" panose="020B0606020202030204" pitchFamily="34" charset="0"/>
              </a:rPr>
              <a:t>Enhancement mode: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V</a:t>
            </a:r>
            <a:r>
              <a:rPr lang="en-US" baseline="-25000" dirty="0">
                <a:latin typeface="Arial Narrow" panose="020B0606020202030204" pitchFamily="34" charset="0"/>
              </a:rPr>
              <a:t>GS</a:t>
            </a:r>
            <a:r>
              <a:rPr lang="en-US" dirty="0">
                <a:latin typeface="Arial Narrow" panose="020B0606020202030204" pitchFamily="34" charset="0"/>
              </a:rPr>
              <a:t> &gt; 0V, I</a:t>
            </a:r>
            <a:r>
              <a:rPr lang="en-US" baseline="-25000" dirty="0">
                <a:latin typeface="Arial Narrow" panose="020B0606020202030204" pitchFamily="34" charset="0"/>
              </a:rPr>
              <a:t>D</a:t>
            </a:r>
            <a:r>
              <a:rPr lang="en-US" dirty="0">
                <a:latin typeface="Arial Narrow" panose="020B0606020202030204" pitchFamily="34" charset="0"/>
              </a:rPr>
              <a:t> increases above I</a:t>
            </a:r>
            <a:r>
              <a:rPr lang="en-US" baseline="-25000" dirty="0">
                <a:latin typeface="Arial Narrow" panose="020B0606020202030204" pitchFamily="34" charset="0"/>
              </a:rPr>
              <a:t>DSS.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The formula used to plot the  Transfer Curve still applies:  	</a:t>
            </a:r>
          </a:p>
          <a:p>
            <a:pPr marL="0" indent="0" algn="just">
              <a:buNone/>
            </a:pPr>
            <a:r>
              <a:rPr lang="en-US" dirty="0">
                <a:latin typeface="Arial Narrow" panose="020B0606020202030204" pitchFamily="34" charset="0"/>
              </a:rPr>
              <a:t>(note that V</a:t>
            </a:r>
            <a:r>
              <a:rPr lang="en-US" baseline="-25000" dirty="0">
                <a:latin typeface="Arial Narrow" panose="020B0606020202030204" pitchFamily="34" charset="0"/>
              </a:rPr>
              <a:t>GS</a:t>
            </a:r>
            <a:r>
              <a:rPr lang="en-US" dirty="0">
                <a:latin typeface="Arial Narrow" panose="020B0606020202030204" pitchFamily="34" charset="0"/>
              </a:rPr>
              <a:t> is now a positive polarity)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48976" y="2249522"/>
            <a:ext cx="4594302" cy="2771644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907630"/>
              </p:ext>
            </p:extLst>
          </p:nvPr>
        </p:nvGraphicFramePr>
        <p:xfrm>
          <a:off x="1710018" y="4460906"/>
          <a:ext cx="1756401" cy="637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032" imgH="393529" progId="Equation.3">
                  <p:embed/>
                </p:oleObj>
              </mc:Choice>
              <mc:Fallback>
                <p:oleObj name="Equation" r:id="rId4" imgW="1079032" imgH="393529" progId="Equation.3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018" y="4460906"/>
                        <a:ext cx="1756401" cy="637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447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597" y="973121"/>
            <a:ext cx="7429499" cy="52772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P-CHANNEL DEPLETION-TYPE MOSFET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460" y="1583993"/>
            <a:ext cx="7615451" cy="4084911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The p-channel Depletion-type MOSFET is similar to the  n-channel except that the voltage polarities and current directions are reversed.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3915" y="2186043"/>
            <a:ext cx="7165181" cy="339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0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597" y="973121"/>
            <a:ext cx="7429499" cy="61087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 SYMBOLS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82257" y="1278557"/>
            <a:ext cx="3738333" cy="442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18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597" y="973121"/>
            <a:ext cx="7429499" cy="61087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SUMMARY TABLE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5888" y="1450059"/>
            <a:ext cx="4580408" cy="443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90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597" y="973121"/>
            <a:ext cx="7429499" cy="61087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 MOSFET HANDLING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460" y="1583993"/>
            <a:ext cx="5536162" cy="4084911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MOSFETs are </a:t>
            </a:r>
            <a:r>
              <a:rPr lang="en-US" b="1" i="1" dirty="0">
                <a:latin typeface="Arial Narrow" panose="020B0606020202030204" pitchFamily="34" charset="0"/>
              </a:rPr>
              <a:t>very static sensitive</a:t>
            </a:r>
            <a:r>
              <a:rPr lang="en-US" dirty="0">
                <a:latin typeface="Arial Narrow" panose="020B0606020202030204" pitchFamily="34" charset="0"/>
              </a:rPr>
              <a:t>. Because of the very thin SiO2 layer between the external terminals and the layers of the device, any small electrical discharge can stablish an unwanted conduction.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Protection:</a:t>
            </a:r>
          </a:p>
          <a:p>
            <a:pPr lvl="2" algn="just"/>
            <a:r>
              <a:rPr lang="en-US" sz="1800" dirty="0">
                <a:latin typeface="Arial Narrow" panose="020B0606020202030204" pitchFamily="34" charset="0"/>
              </a:rPr>
              <a:t>Always transport in a static sensitive bag.</a:t>
            </a:r>
          </a:p>
          <a:p>
            <a:pPr lvl="2" algn="just"/>
            <a:r>
              <a:rPr lang="en-US" sz="1800" dirty="0">
                <a:latin typeface="Arial Narrow" panose="020B0606020202030204" pitchFamily="34" charset="0"/>
              </a:rPr>
              <a:t>Always wear a static strap when handling MOSFETS.</a:t>
            </a:r>
          </a:p>
          <a:p>
            <a:pPr lvl="2" algn="just"/>
            <a:r>
              <a:rPr lang="en-US" sz="1800" dirty="0">
                <a:latin typeface="Arial Narrow" panose="020B0606020202030204" pitchFamily="34" charset="0"/>
              </a:rPr>
              <a:t>Apply voltage limiting devices between the Gate and Source, such as back-to-back </a:t>
            </a:r>
            <a:r>
              <a:rPr lang="en-US" sz="1800" dirty="0" err="1">
                <a:latin typeface="Arial Narrow" panose="020B0606020202030204" pitchFamily="34" charset="0"/>
              </a:rPr>
              <a:t>Zeners</a:t>
            </a:r>
            <a:r>
              <a:rPr lang="en-US" sz="1800" dirty="0">
                <a:latin typeface="Arial Narrow" panose="020B0606020202030204" pitchFamily="34" charset="0"/>
              </a:rPr>
              <a:t> to limit any transient voltage.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8934" y="2053113"/>
            <a:ext cx="1761045" cy="271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8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597" y="973121"/>
            <a:ext cx="7429499" cy="61087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 CMOS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460" y="1583993"/>
            <a:ext cx="4090707" cy="4084911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CMOS – Complementary MOSFET p-channel and n-channel MOSFET on the same substrate.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Advantage:</a:t>
            </a:r>
          </a:p>
          <a:p>
            <a:pPr lvl="2" algn="just"/>
            <a:r>
              <a:rPr lang="en-US" sz="1650" dirty="0">
                <a:latin typeface="Arial Narrow" panose="020B0606020202030204" pitchFamily="34" charset="0"/>
              </a:rPr>
              <a:t>Useful in logic circuit designs</a:t>
            </a:r>
          </a:p>
          <a:p>
            <a:pPr lvl="2" algn="just"/>
            <a:r>
              <a:rPr lang="en-US" sz="1650" dirty="0">
                <a:latin typeface="Arial Narrow" panose="020B0606020202030204" pitchFamily="34" charset="0"/>
              </a:rPr>
              <a:t>Higher input impedance</a:t>
            </a:r>
          </a:p>
          <a:p>
            <a:pPr lvl="2" algn="just"/>
            <a:r>
              <a:rPr lang="en-US" sz="1650" dirty="0">
                <a:latin typeface="Arial Narrow" panose="020B0606020202030204" pitchFamily="34" charset="0"/>
              </a:rPr>
              <a:t>Faster switching speeds</a:t>
            </a:r>
          </a:p>
          <a:p>
            <a:pPr lvl="2" algn="just"/>
            <a:r>
              <a:rPr lang="en-US" sz="1650" dirty="0">
                <a:latin typeface="Arial Narrow" panose="020B0606020202030204" pitchFamily="34" charset="0"/>
              </a:rPr>
              <a:t>Lower operating power levels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b="1" dirty="0">
                <a:latin typeface="Arial Narrow" panose="020B0606020202030204" pitchFamily="34" charset="0"/>
              </a:rPr>
              <a:t>Application: </a:t>
            </a:r>
          </a:p>
          <a:p>
            <a:pPr lvl="2" algn="just"/>
            <a:r>
              <a:rPr lang="en-US" sz="1650" dirty="0">
                <a:latin typeface="Arial Narrow" panose="020B0606020202030204" pitchFamily="34" charset="0"/>
              </a:rPr>
              <a:t>CMOS Inverter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2194" y="2418763"/>
            <a:ext cx="4825094" cy="274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4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139" y="857250"/>
            <a:ext cx="7429499" cy="61087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 CMOS INVERTER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44" y="1329146"/>
            <a:ext cx="5071049" cy="4199709"/>
          </a:xfrm>
        </p:spPr>
        <p:txBody>
          <a:bodyPr>
            <a:noAutofit/>
          </a:bodyPr>
          <a:lstStyle/>
          <a:p>
            <a:pPr algn="just">
              <a:spcBef>
                <a:spcPct val="0"/>
              </a:spcBef>
            </a:pPr>
            <a:r>
              <a:rPr lang="en-GB" altLang="en-US" sz="1500" dirty="0">
                <a:latin typeface="Arial Narrow" panose="020B0606020202030204" pitchFamily="34" charset="0"/>
                <a:cs typeface="Times New Roman" panose="02020603050405020304" pitchFamily="18" charset="0"/>
              </a:rPr>
              <a:t>An inverter is a logic element that “inverts” the applied signal. That is, if the logic levels of operation are 0V (0-state) and 5V (1-state), an input level of 0V will result in an output level of 5V, and vice versa.</a:t>
            </a:r>
          </a:p>
          <a:p>
            <a:pPr algn="just">
              <a:spcBef>
                <a:spcPct val="0"/>
              </a:spcBef>
            </a:pPr>
            <a:endParaRPr lang="en-GB" altLang="en-US" sz="15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en-US" sz="1500" dirty="0">
                <a:latin typeface="Arial Narrow" panose="020B0606020202030204" pitchFamily="34" charset="0"/>
                <a:cs typeface="Times New Roman" panose="02020603050405020304" pitchFamily="18" charset="0"/>
              </a:rPr>
              <a:t>Here,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both gates are connected to the applied signal </a:t>
            </a:r>
            <a:r>
              <a:rPr lang="en-GB" altLang="en-US" sz="1500" dirty="0">
                <a:latin typeface="Arial Narrow" panose="020B0606020202030204" pitchFamily="34" charset="0"/>
                <a:cs typeface="Times New Roman" panose="02020603050405020304" pitchFamily="18" charset="0"/>
              </a:rPr>
              <a:t>and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both drain to the output V</a:t>
            </a:r>
            <a:r>
              <a:rPr lang="en-GB" altLang="en-US" sz="1500" b="1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o</a:t>
            </a:r>
            <a:r>
              <a:rPr lang="en-GB" altLang="en-US" sz="15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. The </a:t>
            </a:r>
            <a:r>
              <a:rPr lang="en-GB" altLang="en-US" sz="1500" b="1" i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source of the p-channel MOSFET (Q</a:t>
            </a:r>
            <a:r>
              <a:rPr lang="en-GB" altLang="en-US" sz="1500" b="1" i="1" baseline="-250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r>
              <a:rPr lang="en-GB" altLang="en-US" sz="1500" b="1" i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GB" altLang="en-US" sz="1500" i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15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is </a:t>
            </a:r>
            <a:r>
              <a:rPr lang="en-GB" altLang="en-US" sz="1500" b="1" i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connected</a:t>
            </a:r>
            <a:r>
              <a:rPr lang="en-GB" altLang="en-US" sz="1500" dirty="0">
                <a:latin typeface="Arial Narrow" panose="020B0606020202030204" pitchFamily="34" charset="0"/>
                <a:cs typeface="Times New Roman" panose="02020603050405020304" pitchFamily="18" charset="0"/>
              </a:rPr>
              <a:t> directly to the </a:t>
            </a:r>
            <a:r>
              <a:rPr lang="en-GB" altLang="en-US" sz="1500" b="1" i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applied voltage V</a:t>
            </a:r>
            <a:r>
              <a:rPr lang="en-GB" altLang="en-US" sz="1500" b="1" i="1" baseline="-250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SS</a:t>
            </a:r>
            <a:r>
              <a:rPr lang="en-GB" altLang="en-US" sz="15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, while the </a:t>
            </a:r>
            <a:r>
              <a:rPr lang="en-GB" altLang="en-US" sz="1500" b="1" i="1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source of the n-channel MOSFET (Q</a:t>
            </a:r>
            <a:r>
              <a:rPr lang="en-GB" altLang="en-US" sz="1500" b="1" i="1" baseline="-25000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GB" altLang="en-US" sz="1500" b="1" i="1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 </a:t>
            </a:r>
            <a:r>
              <a:rPr lang="en-GB" altLang="en-US" sz="15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is </a:t>
            </a:r>
            <a:r>
              <a:rPr lang="en-GB" altLang="en-US" sz="1500" b="1" i="1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connected</a:t>
            </a:r>
            <a:r>
              <a:rPr lang="en-GB" altLang="en-US" sz="1500" i="1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1500" b="1" i="1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to ground. </a:t>
            </a:r>
          </a:p>
          <a:p>
            <a:pPr algn="just">
              <a:spcBef>
                <a:spcPct val="0"/>
              </a:spcBef>
            </a:pPr>
            <a:endParaRPr lang="en-GB" altLang="en-US" sz="1500" i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GB" altLang="en-US" sz="15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Here, the application </a:t>
            </a:r>
            <a:r>
              <a:rPr lang="en-GB" altLang="en-US" sz="1500" dirty="0">
                <a:latin typeface="Arial Narrow" panose="020B0606020202030204" pitchFamily="34" charset="0"/>
                <a:cs typeface="Times New Roman" panose="02020603050405020304" pitchFamily="18" charset="0"/>
              </a:rPr>
              <a:t>of 5V at the input should result in approximately 0 V at the output.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With 5V at V</a:t>
            </a:r>
            <a:r>
              <a:rPr lang="en-GB" altLang="en-US" sz="1500" b="1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1500" dirty="0">
                <a:latin typeface="Arial Narrow" panose="020B0606020202030204" pitchFamily="34" charset="0"/>
                <a:cs typeface="Times New Roman" panose="02020603050405020304" pitchFamily="18" charset="0"/>
              </a:rPr>
              <a:t>(with respect to ground),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  <a:r>
              <a:rPr lang="en-GB" altLang="en-US" sz="1500" b="1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GS1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 = V</a:t>
            </a:r>
            <a:r>
              <a:rPr lang="en-GB" altLang="en-US" sz="1500" b="1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15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and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Q</a:t>
            </a:r>
            <a:r>
              <a:rPr lang="en-GB" altLang="en-US" sz="1500" b="1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 is “on,” </a:t>
            </a:r>
            <a:r>
              <a:rPr lang="en-GB" altLang="en-US" sz="15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resulting in a relatively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low resistance between drain and source. </a:t>
            </a:r>
          </a:p>
          <a:p>
            <a:pPr algn="just">
              <a:spcBef>
                <a:spcPct val="0"/>
              </a:spcBef>
            </a:pPr>
            <a:endParaRPr lang="en-GB" altLang="en-US" sz="15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GB" altLang="en-US" sz="1500" dirty="0">
                <a:latin typeface="Arial Narrow" panose="020B0606020202030204" pitchFamily="34" charset="0"/>
                <a:cs typeface="Times New Roman" panose="02020603050405020304" pitchFamily="18" charset="0"/>
              </a:rPr>
              <a:t>Since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  <a:r>
              <a:rPr lang="en-GB" altLang="en-US" sz="1500" b="1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 and V</a:t>
            </a:r>
            <a:r>
              <a:rPr lang="en-GB" altLang="en-US" sz="1500" b="1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SS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 are at 5 V</a:t>
            </a:r>
            <a:r>
              <a:rPr lang="en-GB" altLang="en-US" sz="15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,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  <a:r>
              <a:rPr lang="en-GB" altLang="en-US" sz="1500" b="1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GS2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 = 0 V</a:t>
            </a:r>
            <a:r>
              <a:rPr lang="en-GB" altLang="en-US" sz="15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, which is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less than the required V</a:t>
            </a:r>
            <a:r>
              <a:rPr lang="en-GB" altLang="en-US" sz="1500" b="1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T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15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for the device, resulting in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an “off” </a:t>
            </a:r>
            <a:r>
              <a:rPr lang="en-GB" altLang="en-US" sz="15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state</a:t>
            </a:r>
            <a:r>
              <a:rPr lang="en-GB" altLang="en-US" sz="1500" dirty="0">
                <a:latin typeface="Arial Narrow" panose="020B0606020202030204" pitchFamily="34" charset="0"/>
                <a:cs typeface="Times New Roman" panose="02020603050405020304" pitchFamily="18" charset="0"/>
              </a:rPr>
              <a:t>. The resulting resistance level between drain and source is 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quite high for Q</a:t>
            </a:r>
            <a:r>
              <a:rPr lang="en-GB" altLang="en-US" sz="1500" b="1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r>
              <a:rPr lang="en-GB" altLang="en-US" sz="1500" b="1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500" dirty="0">
              <a:latin typeface="Arial Narrow" panose="020B0606020202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61893" y="1583993"/>
            <a:ext cx="3464266" cy="39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5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597" y="973121"/>
            <a:ext cx="7429499" cy="61087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 CMOS INVERTER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460" y="1583993"/>
            <a:ext cx="4797608" cy="4084911"/>
          </a:xfrm>
        </p:spPr>
        <p:txBody>
          <a:bodyPr>
            <a:noAutofit/>
          </a:bodyPr>
          <a:lstStyle/>
          <a:p>
            <a:pPr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 simple application of the voltage-divider rule will reveal that 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  <a:r>
              <a:rPr lang="en-GB" altLang="en-US" b="1" i="1" baseline="-250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is very close to 0 V or the 0-state,</a:t>
            </a:r>
            <a:r>
              <a:rPr lang="en-GB" altLang="en-US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establishing the desired inversion process. 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GB" altLang="en-US" i="1" dirty="0">
              <a:solidFill>
                <a:prstClr val="black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For </a:t>
            </a:r>
            <a:r>
              <a:rPr lang="en-GB" altLang="en-US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an applied voltage 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  <a:r>
              <a:rPr lang="en-GB" altLang="en-US" b="1" i="1" baseline="-250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 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of 0V (0-state), V</a:t>
            </a:r>
            <a:r>
              <a:rPr lang="en-GB" altLang="en-US" b="1" i="1" baseline="-250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GS1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= 0V and Q</a:t>
            </a:r>
            <a:r>
              <a:rPr lang="en-GB" altLang="en-US" b="1" i="1" baseline="-250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will be off with V</a:t>
            </a:r>
            <a:r>
              <a:rPr lang="en-GB" altLang="en-US" b="1" i="1" baseline="-250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SS2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=-5V</a:t>
            </a:r>
            <a:r>
              <a:rPr lang="en-GB" altLang="en-US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turning on 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the p-channel MOSFET</a:t>
            </a:r>
            <a:r>
              <a:rPr lang="en-GB" altLang="en-US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 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The result is that Q</a:t>
            </a:r>
            <a:r>
              <a:rPr lang="en-GB" altLang="en-US" b="1" i="1" baseline="-250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will present a small </a:t>
            </a:r>
            <a:r>
              <a:rPr lang="en-GB" altLang="en-US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resistance level, 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Q</a:t>
            </a:r>
            <a:r>
              <a:rPr lang="en-GB" altLang="en-US" b="1" i="1" baseline="-250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a high resistance, and V</a:t>
            </a:r>
            <a:r>
              <a:rPr lang="en-GB" altLang="en-US" b="1" i="1" baseline="-250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=V</a:t>
            </a:r>
            <a:r>
              <a:rPr lang="en-GB" altLang="en-US" b="1" i="1" baseline="-250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SS </a:t>
            </a:r>
            <a:r>
              <a:rPr lang="en-GB" altLang="en-US" b="1" i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=5 V (the 1-state).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16256" y="1807333"/>
            <a:ext cx="3267698" cy="354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5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619672" y="2310225"/>
            <a:ext cx="6324088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ts val="1200"/>
              </a:spcBef>
              <a:buFontTx/>
              <a:buNone/>
            </a:pPr>
            <a:r>
              <a:rPr lang="en-US" altLang="ja-JP" sz="6600" b="1" dirty="0">
                <a:solidFill>
                  <a:schemeClr val="accent3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End of Lecture-5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B60151-275B-234C-B96C-37225154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F6B988-E08C-4CCC-98F2-2921209802BF}" type="slidenum">
              <a:rPr lang="ja-JP" altLang="en-US" smtClean="0"/>
              <a:pPr>
                <a:defRPr/>
              </a:pPr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843141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BEBDDA8D838A4686747943A0DB7C84" ma:contentTypeVersion="4" ma:contentTypeDescription="Create a new document." ma:contentTypeScope="" ma:versionID="b63a3dc0401ec84a0af0b4087381f050">
  <xsd:schema xmlns:xsd="http://www.w3.org/2001/XMLSchema" xmlns:xs="http://www.w3.org/2001/XMLSchema" xmlns:p="http://schemas.microsoft.com/office/2006/metadata/properties" xmlns:ns2="28013899-7984-4c6f-833b-f43ae29268d6" targetNamespace="http://schemas.microsoft.com/office/2006/metadata/properties" ma:root="true" ma:fieldsID="d0c0b676fe751101f70278e1c0480587" ns2:_="">
    <xsd:import namespace="28013899-7984-4c6f-833b-f43ae29268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13899-7984-4c6f-833b-f43ae29268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EA41AA-8D86-48C0-BD9C-DD67D5A3A98A}"/>
</file>

<file path=customXml/itemProps2.xml><?xml version="1.0" encoding="utf-8"?>
<ds:datastoreItem xmlns:ds="http://schemas.openxmlformats.org/officeDocument/2006/customXml" ds:itemID="{F2B1F3D0-0069-40AD-8DD5-B07A9C67E739}"/>
</file>

<file path=customXml/itemProps3.xml><?xml version="1.0" encoding="utf-8"?>
<ds:datastoreItem xmlns:ds="http://schemas.openxmlformats.org/officeDocument/2006/customXml" ds:itemID="{127A5BC8-B164-4972-82E8-2305CD07DB55}"/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723</TotalTime>
  <Words>1111</Words>
  <Application>Microsoft Office PowerPoint</Application>
  <PresentationFormat>On-screen Show (4:3)</PresentationFormat>
  <Paragraphs>96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Apple Chancery</vt:lpstr>
      <vt:lpstr>Arial</vt:lpstr>
      <vt:lpstr>Arial Narrow</vt:lpstr>
      <vt:lpstr>Calibri</vt:lpstr>
      <vt:lpstr>Cambria</vt:lpstr>
      <vt:lpstr>Franklin Gothic Book</vt:lpstr>
      <vt:lpstr>Times New Roman</vt:lpstr>
      <vt:lpstr>TimesNewRomanPS</vt:lpstr>
      <vt:lpstr>Theme1</vt:lpstr>
      <vt:lpstr>Equation</vt:lpstr>
      <vt:lpstr>PowerPoint Presentation</vt:lpstr>
      <vt:lpstr> TRANSFER CURVE </vt:lpstr>
      <vt:lpstr> P -CHANNEL ENHANCEMENT-TYPE MOSFETS</vt:lpstr>
      <vt:lpstr> SYMBOLS </vt:lpstr>
      <vt:lpstr> DEPLETION-TYPE MOSFET CONSTRUCTION </vt:lpstr>
      <vt:lpstr> BASIC OPERATION</vt:lpstr>
      <vt:lpstr> BASIC OPERATION </vt:lpstr>
      <vt:lpstr> BASIC OPERATION CONTD.</vt:lpstr>
      <vt:lpstr> DEPLETION-TYPE MOSFET IN DEPLETION MODE </vt:lpstr>
      <vt:lpstr> ENHANCEMENT MODE</vt:lpstr>
      <vt:lpstr> DEPLETION-TYPE MOSFET IN ENHANCEMENT MODE</vt:lpstr>
      <vt:lpstr> P-CHANNEL DEPLETION-TYPE MOSFET</vt:lpstr>
      <vt:lpstr> SYMBOLS</vt:lpstr>
      <vt:lpstr> SUMMARY TABLE </vt:lpstr>
      <vt:lpstr> MOSFET HANDLING </vt:lpstr>
      <vt:lpstr> CMOS </vt:lpstr>
      <vt:lpstr> CMOS INVERTER </vt:lpstr>
      <vt:lpstr> CMOS INVERTER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CLIPPERS</dc:title>
  <dc:creator>Md. Mamunur Rashid</dc:creator>
  <cp:lastModifiedBy>Dr. Md. Kabiruzzaman</cp:lastModifiedBy>
  <cp:revision>130</cp:revision>
  <dcterms:created xsi:type="dcterms:W3CDTF">2016-06-11T11:25:17Z</dcterms:created>
  <dcterms:modified xsi:type="dcterms:W3CDTF">2021-11-15T02:01:29Z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0x010100BEBEBDDA8D838A4686747943A0DB7C84</vt:lpwstr>
  </property>
</Properties>
</file>